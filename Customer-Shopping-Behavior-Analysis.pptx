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751335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 Analysis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3023592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spending patterns, segments, and preferences from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3,900 transactions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24681"/>
            <a:ext cx="4722763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at a Glance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966267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3,900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96119" y="1408361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6119" y="1642616"/>
            <a:ext cx="4722763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Rows of purchase data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1953741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96119" y="2395835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6119" y="2630091"/>
            <a:ext cx="4722763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Demographics, purchases, behavior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96119" y="2941216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6119" y="3383310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3617565"/>
            <a:ext cx="4722763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Rating column only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6119" y="3928690"/>
            <a:ext cx="4722763" cy="336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6119" y="4370784"/>
            <a:ext cx="4722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6119" y="4605040"/>
            <a:ext cx="4722763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Geographic coverage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713"/>
            <a:ext cx="8151763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spc="-30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in Python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6638"/>
            <a:ext cx="5187032" cy="293928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5668" y="1252351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31384" y="1244278"/>
            <a:ext cx="2221185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Load &amp; Explore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431384" y="1608981"/>
            <a:ext cx="2221185" cy="16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pandas: df.info(), .describe()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5668" y="2021198"/>
            <a:ext cx="196007" cy="196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31384" y="2013124"/>
            <a:ext cx="2221185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Clean &amp; Standardize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431384" y="2377827"/>
            <a:ext cx="2221185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Review Rating (median by category); snake_case columns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5668" y="2953234"/>
            <a:ext cx="196007" cy="196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31384" y="2945160"/>
            <a:ext cx="2221185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431384" y="3309863"/>
            <a:ext cx="2221185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age_group bins; purchase_frequency_days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55668" y="3885270"/>
            <a:ext cx="196007" cy="1960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31384" y="3877196"/>
            <a:ext cx="2221185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SQL Server Load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431384" y="4241899"/>
            <a:ext cx="2221185" cy="3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Cleaned DataFrame loaded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389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8288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20577"/>
            <a:ext cx="39029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49701" y="1927250"/>
            <a:ext cx="390294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Male customers generated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2.1x more revenue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female customers — $157,890 vs. $75,191.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5218"/>
            <a:ext cx="3902943" cy="694432"/>
          </a:xfrm>
          <a:prstGeom prst="roundRect">
            <a:avLst>
              <a:gd name="adj" fmla="val 8574"/>
            </a:avLst>
          </a:prstGeom>
          <a:solidFill>
            <a:srgbClr val="FFE0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5122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8184"/>
            <a:ext cx="330048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2,652 male customers vs. 1,248 female customers in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389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Subscribers vs. Non-Subscribers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8288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20577"/>
            <a:ext cx="39029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 Profile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49701" y="1927250"/>
            <a:ext cx="3902943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27%</a:t>
            </a:r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customers subscribe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spend nearly equal: $59.49 vs. $59.87</a:t>
            </a:r>
            <a:endParaRPr lang="en-US" sz="1100" dirty="0"/>
          </a:p>
          <a:p>
            <a:pPr algn="l" marL="223520" indent="-223520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958 repeat buyers (5+ purchases) are subscribers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738586"/>
            <a:ext cx="3902943" cy="694432"/>
          </a:xfrm>
          <a:prstGeom prst="roundRect">
            <a:avLst>
              <a:gd name="adj" fmla="val 8574"/>
            </a:avLst>
          </a:prstGeom>
          <a:solidFill>
            <a:srgbClr val="FFE0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3459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901553"/>
            <a:ext cx="330048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show loyalty — opportunity to grow this segment.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011436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 Products by Rating &amp; Discount Rate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925119" y="2283693"/>
            <a:ext cx="4722763" cy="1848296"/>
          </a:xfrm>
          <a:prstGeom prst="roundRect">
            <a:avLst>
              <a:gd name="adj" fmla="val 322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39406" y="2297981"/>
            <a:ext cx="4694188" cy="817736"/>
          </a:xfrm>
          <a:custGeom>
            <a:avLst/>
            <a:gdLst/>
            <a:ahLst/>
            <a:cxnLst/>
            <a:rect l="l" t="t" r="r" b="b"/>
            <a:pathLst>
              <a:path w="4694188" h="817736">
                <a:moveTo>
                  <a:pt x="49619" y="0"/>
                </a:moveTo>
                <a:lnTo>
                  <a:pt x="4644569" y="0"/>
                </a:lnTo>
                <a:arcTo hR="49619" wR="49619" stAng="16200000" swAng="5400000"/>
                <a:lnTo>
                  <a:pt x="4694188" y="817736"/>
                </a:lnTo>
                <a:lnTo>
                  <a:pt x="0" y="817736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6" name="Text 3"/>
          <p:cNvSpPr/>
          <p:nvPr/>
        </p:nvSpPr>
        <p:spPr>
          <a:xfrm>
            <a:off x="4081165" y="2439739"/>
            <a:ext cx="441067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⭐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Highest Rated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81165" y="2789709"/>
            <a:ext cx="441067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Gloves (3.86), Sandals (3.84), Boots (3.82), Hat (3.80), Skirt (3.78)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39406" y="3115717"/>
            <a:ext cx="4694188" cy="1001985"/>
          </a:xfrm>
          <a:custGeom>
            <a:avLst/>
            <a:gdLst/>
            <a:ahLst/>
            <a:cxnLst/>
            <a:rect l="l" t="t" r="r" b="b"/>
            <a:pathLst>
              <a:path w="4694188" h="1001985">
                <a:moveTo>
                  <a:pt x="0" y="0"/>
                </a:moveTo>
                <a:lnTo>
                  <a:pt x="4694188" y="0"/>
                </a:lnTo>
                <a:lnTo>
                  <a:pt x="4694188" y="952367"/>
                </a:lnTo>
                <a:arcTo hR="49619" wR="49619" stAng="0" swAng="5400000"/>
                <a:lnTo>
                  <a:pt x="49619" y="1001985"/>
                </a:lnTo>
                <a:arcTo hR="49619" w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9" name="Shape 6"/>
          <p:cNvSpPr/>
          <p:nvPr/>
        </p:nvSpPr>
        <p:spPr>
          <a:xfrm>
            <a:off x="3939406" y="3115717"/>
            <a:ext cx="4694188" cy="19050"/>
          </a:xfrm>
          <a:prstGeom prst="roundRect">
            <a:avLst>
              <a:gd name="adj" fmla="val 50000"/>
            </a:avLst>
          </a:prstGeom>
          <a:solidFill>
            <a:srgbClr val="FFE0CC"/>
          </a:solidFill>
          <a:ln/>
        </p:spPr>
      </p:sp>
      <p:sp>
        <p:nvSpPr>
          <p:cNvPr id="10" name="Text 7"/>
          <p:cNvSpPr/>
          <p:nvPr/>
        </p:nvSpPr>
        <p:spPr>
          <a:xfrm>
            <a:off x="4081165" y="3257476"/>
            <a:ext cx="441067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🏷️</a:t>
            </a:r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Most Discounted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81165" y="3607445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Hat (50%), Sneakers (49.7%), Coat (49.1%), Sweater (48.2%), Pants (47.4%)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960"/>
            <a:ext cx="8151763" cy="5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Segmentation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83345"/>
            <a:ext cx="3908375" cy="2813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4269" y="1266676"/>
            <a:ext cx="390837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Segment Breakdown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4269" y="1672903"/>
            <a:ext cx="3908375" cy="8780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76813" y="1829246"/>
            <a:ext cx="351948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 — 80%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4976813" y="2218804"/>
            <a:ext cx="3519488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3,116 customers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4269" y="2683892"/>
            <a:ext cx="3908375" cy="8780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76813" y="2840236"/>
            <a:ext cx="351948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Returning — 18%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976813" y="3229794"/>
            <a:ext cx="3519488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701 customers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4269" y="3694881"/>
            <a:ext cx="3908375" cy="8780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76813" y="3851225"/>
            <a:ext cx="351948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New — 2%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4976813" y="4240783"/>
            <a:ext cx="3519488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 customers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389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Age Group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38288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20577"/>
            <a:ext cx="390294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Insight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49701" y="1927250"/>
            <a:ext cx="390294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Young Adults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lead revenue at $62,143. Revenue declines gradually with age — all groups remain significant contributors.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429667"/>
            <a:ext cx="4722763" cy="504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BI Dashboard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3925119" y="1127820"/>
            <a:ext cx="4722763" cy="799951"/>
          </a:xfrm>
          <a:prstGeom prst="roundRect">
            <a:avLst>
              <a:gd name="adj" fmla="val 709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4468" y="1277169"/>
            <a:ext cx="4424065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3.9K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74468" y="1606897"/>
            <a:ext cx="4424065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56507"/>
            <a:ext cx="4722763" cy="799951"/>
          </a:xfrm>
          <a:prstGeom prst="roundRect">
            <a:avLst>
              <a:gd name="adj" fmla="val 709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74468" y="2205856"/>
            <a:ext cx="4424065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$59.76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074468" y="2535585"/>
            <a:ext cx="4424065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Purchase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85195"/>
            <a:ext cx="4722763" cy="799951"/>
          </a:xfrm>
          <a:prstGeom prst="roundRect">
            <a:avLst>
              <a:gd name="adj" fmla="val 709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4468" y="3134544"/>
            <a:ext cx="4424065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3.75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74468" y="3464272"/>
            <a:ext cx="4424065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13882"/>
            <a:ext cx="4722763" cy="799951"/>
          </a:xfrm>
          <a:prstGeom prst="roundRect">
            <a:avLst>
              <a:gd name="adj" fmla="val 7094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74468" y="4063231"/>
            <a:ext cx="4424065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Clothing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074468" y="4392960"/>
            <a:ext cx="4424065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revenue category (~$90K)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398934"/>
            <a:ext cx="4722763" cy="1043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Business Recommendations</a:t>
            </a:r>
            <a:endParaRPr lang="en-US" sz="3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48123"/>
            <a:ext cx="348853" cy="3488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5645" y="1648123"/>
            <a:ext cx="42022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4445645" y="1991246"/>
            <a:ext cx="420223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subscriber benefits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45916"/>
            <a:ext cx="348853" cy="34885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45645" y="2445916"/>
            <a:ext cx="42022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4445645" y="2789039"/>
            <a:ext cx="420223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toward "Loyal" segment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43709"/>
            <a:ext cx="348853" cy="3488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45645" y="3243709"/>
            <a:ext cx="42022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Review Discount Policy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4445645" y="3586832"/>
            <a:ext cx="4202237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 sales lift with margin control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41502"/>
            <a:ext cx="348853" cy="34885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45645" y="4041502"/>
            <a:ext cx="420223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4445645" y="4384625"/>
            <a:ext cx="4202237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high-revenue age groups &amp; express-shipping users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2026-08-04T03:08:14Z</dcterms:created>
  <dcterms:modified xsi:type="dcterms:W3CDTF">2026-08-04T03:08:14Z</dcterms:modified>
</cp:coreProperties>
</file>